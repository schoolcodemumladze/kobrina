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62760ba7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62760ba7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2760ba7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2760ba7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62760ba79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62760ba79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62760ba79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b62760ba7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62760ba79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b62760ba79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62760ba79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b62760ba79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gif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766650" y="1634700"/>
            <a:ext cx="7610700" cy="1214400"/>
          </a:xfrm>
          <a:prstGeom prst="rect">
            <a:avLst/>
          </a:prstGeom>
        </p:spPr>
        <p:txBody>
          <a:bodyPr anchorCtr="0" anchor="b" bIns="84200" lIns="84200" spcFirstLastPara="1" rIns="84200" wrap="square" tIns="842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789"/>
              <a:t>Калькулятор с историей операций</a:t>
            </a:r>
            <a:endParaRPr sz="4789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655700" y="2999400"/>
            <a:ext cx="5832600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Кобрина Мария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-143130" y="666204"/>
            <a:ext cx="9900" cy="89100"/>
          </a:xfrm>
          <a:prstGeom prst="ellipse">
            <a:avLst/>
          </a:prstGeom>
          <a:solidFill>
            <a:schemeClr val="lt2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57" name="Google Shape;57;p13"/>
          <p:cNvSpPr/>
          <p:nvPr/>
        </p:nvSpPr>
        <p:spPr>
          <a:xfrm>
            <a:off x="-461575" y="-119250"/>
            <a:ext cx="1295700" cy="10362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58" name="Google Shape;58;p13"/>
          <p:cNvSpPr/>
          <p:nvPr/>
        </p:nvSpPr>
        <p:spPr>
          <a:xfrm>
            <a:off x="735000" y="313870"/>
            <a:ext cx="356100" cy="2667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59" name="Google Shape;59;p13"/>
          <p:cNvSpPr/>
          <p:nvPr/>
        </p:nvSpPr>
        <p:spPr>
          <a:xfrm>
            <a:off x="-293050" y="666204"/>
            <a:ext cx="504300" cy="414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60" name="Google Shape;60;p13"/>
          <p:cNvSpPr/>
          <p:nvPr/>
        </p:nvSpPr>
        <p:spPr>
          <a:xfrm>
            <a:off x="477873" y="-39204"/>
            <a:ext cx="546000" cy="492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61" name="Google Shape;61;p13"/>
          <p:cNvSpPr/>
          <p:nvPr/>
        </p:nvSpPr>
        <p:spPr>
          <a:xfrm>
            <a:off x="8012675" y="-216475"/>
            <a:ext cx="1295700" cy="10362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62" name="Google Shape;62;p13"/>
          <p:cNvSpPr/>
          <p:nvPr/>
        </p:nvSpPr>
        <p:spPr>
          <a:xfrm>
            <a:off x="7654598" y="-39204"/>
            <a:ext cx="546000" cy="492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63" name="Google Shape;63;p13"/>
          <p:cNvSpPr/>
          <p:nvPr/>
        </p:nvSpPr>
        <p:spPr>
          <a:xfrm>
            <a:off x="7898175" y="313870"/>
            <a:ext cx="356100" cy="2667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64" name="Google Shape;64;p13"/>
          <p:cNvSpPr/>
          <p:nvPr/>
        </p:nvSpPr>
        <p:spPr>
          <a:xfrm>
            <a:off x="8750400" y="580579"/>
            <a:ext cx="504300" cy="414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65" name="Google Shape;65;p13"/>
          <p:cNvSpPr/>
          <p:nvPr/>
        </p:nvSpPr>
        <p:spPr>
          <a:xfrm>
            <a:off x="-204600" y="4205525"/>
            <a:ext cx="1295700" cy="10362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66" name="Google Shape;66;p13"/>
          <p:cNvSpPr/>
          <p:nvPr/>
        </p:nvSpPr>
        <p:spPr>
          <a:xfrm>
            <a:off x="8068450" y="4205525"/>
            <a:ext cx="1295700" cy="10362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67" name="Google Shape;67;p13"/>
          <p:cNvSpPr/>
          <p:nvPr/>
        </p:nvSpPr>
        <p:spPr>
          <a:xfrm>
            <a:off x="834123" y="4749121"/>
            <a:ext cx="546000" cy="492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68" name="Google Shape;68;p13"/>
          <p:cNvSpPr/>
          <p:nvPr/>
        </p:nvSpPr>
        <p:spPr>
          <a:xfrm>
            <a:off x="8657373" y="3927271"/>
            <a:ext cx="546000" cy="492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69" name="Google Shape;69;p13"/>
          <p:cNvSpPr/>
          <p:nvPr/>
        </p:nvSpPr>
        <p:spPr>
          <a:xfrm>
            <a:off x="1091100" y="4654095"/>
            <a:ext cx="356100" cy="2667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70" name="Google Shape;70;p13"/>
          <p:cNvSpPr/>
          <p:nvPr/>
        </p:nvSpPr>
        <p:spPr>
          <a:xfrm>
            <a:off x="8482475" y="3927270"/>
            <a:ext cx="356100" cy="2667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71" name="Google Shape;71;p13"/>
          <p:cNvSpPr/>
          <p:nvPr/>
        </p:nvSpPr>
        <p:spPr>
          <a:xfrm>
            <a:off x="-133225" y="3966279"/>
            <a:ext cx="504300" cy="414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72" name="Google Shape;72;p13"/>
          <p:cNvSpPr/>
          <p:nvPr/>
        </p:nvSpPr>
        <p:spPr>
          <a:xfrm>
            <a:off x="7824075" y="4788129"/>
            <a:ext cx="504300" cy="414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pic>
        <p:nvPicPr>
          <p:cNvPr id="73" name="Google Shape;73;p13" title="загруженное (1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4300" y="2118138"/>
            <a:ext cx="2000674" cy="2000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3" title="загруженное (12)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0375" y="2194150"/>
            <a:ext cx="1733124" cy="1733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2025800" y="100825"/>
            <a:ext cx="4694100" cy="1036200"/>
          </a:xfrm>
          <a:prstGeom prst="rect">
            <a:avLst/>
          </a:prstGeom>
        </p:spPr>
        <p:txBody>
          <a:bodyPr anchorCtr="0" anchor="b" bIns="84200" lIns="84200" spcFirstLastPara="1" rIns="84200" wrap="square" tIns="842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789"/>
              <a:t>Цель проекта:</a:t>
            </a:r>
            <a:endParaRPr sz="4789"/>
          </a:p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-133225" y="995175"/>
            <a:ext cx="8601000" cy="132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ru" sz="2180"/>
              <a:t>Цель проекта по созданию калькулятора –</a:t>
            </a:r>
            <a:endParaRPr sz="218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ru" sz="2180"/>
              <a:t>реализация прототипа калькулятора,который хранит и отображает историю операций в отсортированном виде.</a:t>
            </a:r>
            <a:endParaRPr sz="2180"/>
          </a:p>
        </p:txBody>
      </p:sp>
      <p:sp>
        <p:nvSpPr>
          <p:cNvPr id="81" name="Google Shape;81;p14"/>
          <p:cNvSpPr/>
          <p:nvPr/>
        </p:nvSpPr>
        <p:spPr>
          <a:xfrm>
            <a:off x="-143130" y="666204"/>
            <a:ext cx="9900" cy="89100"/>
          </a:xfrm>
          <a:prstGeom prst="ellipse">
            <a:avLst/>
          </a:prstGeom>
          <a:solidFill>
            <a:schemeClr val="lt2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82" name="Google Shape;82;p14"/>
          <p:cNvSpPr/>
          <p:nvPr/>
        </p:nvSpPr>
        <p:spPr>
          <a:xfrm>
            <a:off x="-461575" y="-119250"/>
            <a:ext cx="1295700" cy="10362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83" name="Google Shape;83;p14"/>
          <p:cNvSpPr/>
          <p:nvPr/>
        </p:nvSpPr>
        <p:spPr>
          <a:xfrm>
            <a:off x="735000" y="313870"/>
            <a:ext cx="356100" cy="2667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84" name="Google Shape;84;p14"/>
          <p:cNvSpPr/>
          <p:nvPr/>
        </p:nvSpPr>
        <p:spPr>
          <a:xfrm>
            <a:off x="-293050" y="666204"/>
            <a:ext cx="504300" cy="414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85" name="Google Shape;85;p14"/>
          <p:cNvSpPr/>
          <p:nvPr/>
        </p:nvSpPr>
        <p:spPr>
          <a:xfrm>
            <a:off x="477873" y="-39204"/>
            <a:ext cx="546000" cy="492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86" name="Google Shape;86;p14"/>
          <p:cNvSpPr/>
          <p:nvPr/>
        </p:nvSpPr>
        <p:spPr>
          <a:xfrm>
            <a:off x="8012675" y="-216475"/>
            <a:ext cx="1295700" cy="10362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87" name="Google Shape;87;p14"/>
          <p:cNvSpPr/>
          <p:nvPr/>
        </p:nvSpPr>
        <p:spPr>
          <a:xfrm>
            <a:off x="7654598" y="-39204"/>
            <a:ext cx="546000" cy="492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88" name="Google Shape;88;p14"/>
          <p:cNvSpPr/>
          <p:nvPr/>
        </p:nvSpPr>
        <p:spPr>
          <a:xfrm>
            <a:off x="7898175" y="313870"/>
            <a:ext cx="356100" cy="2667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89" name="Google Shape;89;p14"/>
          <p:cNvSpPr/>
          <p:nvPr/>
        </p:nvSpPr>
        <p:spPr>
          <a:xfrm>
            <a:off x="8750400" y="580579"/>
            <a:ext cx="504300" cy="414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90" name="Google Shape;90;p14"/>
          <p:cNvSpPr/>
          <p:nvPr/>
        </p:nvSpPr>
        <p:spPr>
          <a:xfrm>
            <a:off x="-204600" y="4205525"/>
            <a:ext cx="1295700" cy="10362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91" name="Google Shape;91;p14"/>
          <p:cNvSpPr/>
          <p:nvPr/>
        </p:nvSpPr>
        <p:spPr>
          <a:xfrm>
            <a:off x="8068450" y="4205525"/>
            <a:ext cx="1295700" cy="10362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92" name="Google Shape;92;p14"/>
          <p:cNvSpPr/>
          <p:nvPr/>
        </p:nvSpPr>
        <p:spPr>
          <a:xfrm>
            <a:off x="834123" y="4749121"/>
            <a:ext cx="546000" cy="492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93" name="Google Shape;93;p14"/>
          <p:cNvSpPr/>
          <p:nvPr/>
        </p:nvSpPr>
        <p:spPr>
          <a:xfrm>
            <a:off x="8657373" y="3927271"/>
            <a:ext cx="546000" cy="492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94" name="Google Shape;94;p14"/>
          <p:cNvSpPr/>
          <p:nvPr/>
        </p:nvSpPr>
        <p:spPr>
          <a:xfrm>
            <a:off x="1091100" y="4654095"/>
            <a:ext cx="356100" cy="2667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95" name="Google Shape;95;p14"/>
          <p:cNvSpPr/>
          <p:nvPr/>
        </p:nvSpPr>
        <p:spPr>
          <a:xfrm>
            <a:off x="8482475" y="3927270"/>
            <a:ext cx="356100" cy="2667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96" name="Google Shape;96;p14"/>
          <p:cNvSpPr/>
          <p:nvPr/>
        </p:nvSpPr>
        <p:spPr>
          <a:xfrm>
            <a:off x="-133225" y="3966279"/>
            <a:ext cx="504300" cy="414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97" name="Google Shape;97;p14"/>
          <p:cNvSpPr/>
          <p:nvPr/>
        </p:nvSpPr>
        <p:spPr>
          <a:xfrm>
            <a:off x="7824075" y="4788129"/>
            <a:ext cx="504300" cy="414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pic>
        <p:nvPicPr>
          <p:cNvPr id="98" name="Google Shape;98;p14" title="загруженное (13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3525" y="2080500"/>
            <a:ext cx="2107074" cy="210707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1091100" y="2080500"/>
            <a:ext cx="5052600" cy="25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2150">
                <a:solidFill>
                  <a:schemeClr val="dk2"/>
                </a:solidFill>
              </a:rPr>
              <a:t>Активность проекта обусловлена тем,что зачастую калькуляторы не предоставляют механизма для отслеживания последовательности выполняемых операций,что может приводить к необходимости повторного ввода данных.</a:t>
            </a:r>
            <a:endParaRPr sz="215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ctrTitle"/>
          </p:nvPr>
        </p:nvSpPr>
        <p:spPr>
          <a:xfrm>
            <a:off x="929950" y="331250"/>
            <a:ext cx="6872400" cy="1427700"/>
          </a:xfrm>
          <a:prstGeom prst="rect">
            <a:avLst/>
          </a:prstGeom>
        </p:spPr>
        <p:txBody>
          <a:bodyPr anchorCtr="0" anchor="b" bIns="84200" lIns="84200" spcFirstLastPara="1" rIns="84200" wrap="square" tIns="842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730"/>
              <a:t>Во время работы моей программы предусмотрены:</a:t>
            </a:r>
            <a:endParaRPr sz="3370"/>
          </a:p>
        </p:txBody>
      </p:sp>
      <p:sp>
        <p:nvSpPr>
          <p:cNvPr id="105" name="Google Shape;105;p15"/>
          <p:cNvSpPr txBox="1"/>
          <p:nvPr>
            <p:ph idx="1" type="subTitle"/>
          </p:nvPr>
        </p:nvSpPr>
        <p:spPr>
          <a:xfrm>
            <a:off x="577200" y="1758938"/>
            <a:ext cx="7989600" cy="12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-366395" lvl="0" marL="457200" rtl="0" algn="ctr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Хранение вводимых данных(использование списков)</a:t>
            </a:r>
            <a:endParaRPr/>
          </a:p>
          <a:p>
            <a:pPr indent="-366395" lvl="0" marL="457200" rtl="0" algn="ctr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Выполнение математических операций(использование библиотеки math)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-143130" y="666204"/>
            <a:ext cx="9900" cy="89100"/>
          </a:xfrm>
          <a:prstGeom prst="ellipse">
            <a:avLst/>
          </a:prstGeom>
          <a:solidFill>
            <a:schemeClr val="lt2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07" name="Google Shape;107;p15"/>
          <p:cNvSpPr/>
          <p:nvPr/>
        </p:nvSpPr>
        <p:spPr>
          <a:xfrm>
            <a:off x="-461575" y="-119250"/>
            <a:ext cx="1295700" cy="10362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08" name="Google Shape;108;p15"/>
          <p:cNvSpPr/>
          <p:nvPr/>
        </p:nvSpPr>
        <p:spPr>
          <a:xfrm>
            <a:off x="735000" y="313870"/>
            <a:ext cx="356100" cy="2667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09" name="Google Shape;109;p15"/>
          <p:cNvSpPr/>
          <p:nvPr/>
        </p:nvSpPr>
        <p:spPr>
          <a:xfrm>
            <a:off x="-293050" y="666204"/>
            <a:ext cx="504300" cy="414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10" name="Google Shape;110;p15"/>
          <p:cNvSpPr/>
          <p:nvPr/>
        </p:nvSpPr>
        <p:spPr>
          <a:xfrm>
            <a:off x="477873" y="-39204"/>
            <a:ext cx="546000" cy="492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11" name="Google Shape;111;p15"/>
          <p:cNvSpPr/>
          <p:nvPr/>
        </p:nvSpPr>
        <p:spPr>
          <a:xfrm>
            <a:off x="8012675" y="-216475"/>
            <a:ext cx="1295700" cy="10362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12" name="Google Shape;112;p15"/>
          <p:cNvSpPr/>
          <p:nvPr/>
        </p:nvSpPr>
        <p:spPr>
          <a:xfrm>
            <a:off x="7654598" y="-39204"/>
            <a:ext cx="546000" cy="492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13" name="Google Shape;113;p15"/>
          <p:cNvSpPr/>
          <p:nvPr/>
        </p:nvSpPr>
        <p:spPr>
          <a:xfrm>
            <a:off x="7898175" y="313870"/>
            <a:ext cx="356100" cy="2667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14" name="Google Shape;114;p15"/>
          <p:cNvSpPr/>
          <p:nvPr/>
        </p:nvSpPr>
        <p:spPr>
          <a:xfrm>
            <a:off x="8750400" y="580579"/>
            <a:ext cx="504300" cy="414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15" name="Google Shape;115;p15"/>
          <p:cNvSpPr/>
          <p:nvPr/>
        </p:nvSpPr>
        <p:spPr>
          <a:xfrm>
            <a:off x="-204600" y="4205525"/>
            <a:ext cx="1295700" cy="10362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16" name="Google Shape;116;p15"/>
          <p:cNvSpPr/>
          <p:nvPr/>
        </p:nvSpPr>
        <p:spPr>
          <a:xfrm>
            <a:off x="8068450" y="4205525"/>
            <a:ext cx="1295700" cy="10362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17" name="Google Shape;117;p15"/>
          <p:cNvSpPr/>
          <p:nvPr/>
        </p:nvSpPr>
        <p:spPr>
          <a:xfrm>
            <a:off x="834123" y="4749121"/>
            <a:ext cx="546000" cy="492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18" name="Google Shape;118;p15"/>
          <p:cNvSpPr/>
          <p:nvPr/>
        </p:nvSpPr>
        <p:spPr>
          <a:xfrm>
            <a:off x="8657373" y="3927271"/>
            <a:ext cx="546000" cy="492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19" name="Google Shape;119;p15"/>
          <p:cNvSpPr/>
          <p:nvPr/>
        </p:nvSpPr>
        <p:spPr>
          <a:xfrm>
            <a:off x="1091100" y="4654095"/>
            <a:ext cx="356100" cy="2667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20" name="Google Shape;120;p15"/>
          <p:cNvSpPr/>
          <p:nvPr/>
        </p:nvSpPr>
        <p:spPr>
          <a:xfrm>
            <a:off x="8482475" y="3927270"/>
            <a:ext cx="356100" cy="2667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21" name="Google Shape;121;p15"/>
          <p:cNvSpPr/>
          <p:nvPr/>
        </p:nvSpPr>
        <p:spPr>
          <a:xfrm>
            <a:off x="-133225" y="3966279"/>
            <a:ext cx="504300" cy="414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22" name="Google Shape;122;p15"/>
          <p:cNvSpPr/>
          <p:nvPr/>
        </p:nvSpPr>
        <p:spPr>
          <a:xfrm>
            <a:off x="7824075" y="4788129"/>
            <a:ext cx="504300" cy="414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pic>
        <p:nvPicPr>
          <p:cNvPr id="123" name="Google Shape;123;p15" title="загруженное (14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75" y="2468275"/>
            <a:ext cx="1712175" cy="171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2576413" y="2976413"/>
            <a:ext cx="5709600" cy="1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50">
                <a:solidFill>
                  <a:schemeClr val="dk2"/>
                </a:solidFill>
              </a:rPr>
              <a:t>3. Выполнение повторяющихся действий до определенного условия(использование цикла while)</a:t>
            </a:r>
            <a:endParaRPr sz="215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 txBox="1"/>
          <p:nvPr>
            <p:ph type="ctrTitle"/>
          </p:nvPr>
        </p:nvSpPr>
        <p:spPr>
          <a:xfrm>
            <a:off x="589900" y="-276625"/>
            <a:ext cx="7610700" cy="1156500"/>
          </a:xfrm>
          <a:prstGeom prst="rect">
            <a:avLst/>
          </a:prstGeom>
        </p:spPr>
        <p:txBody>
          <a:bodyPr anchorCtr="0" anchor="b" bIns="84200" lIns="84200" spcFirstLastPara="1" rIns="84200" wrap="square" tIns="842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389"/>
              <a:t>Работа программы:</a:t>
            </a:r>
            <a:endParaRPr sz="3889"/>
          </a:p>
        </p:txBody>
      </p:sp>
      <p:sp>
        <p:nvSpPr>
          <p:cNvPr id="130" name="Google Shape;130;p16"/>
          <p:cNvSpPr txBox="1"/>
          <p:nvPr>
            <p:ph idx="1" type="subTitle"/>
          </p:nvPr>
        </p:nvSpPr>
        <p:spPr>
          <a:xfrm>
            <a:off x="3740300" y="755300"/>
            <a:ext cx="4964400" cy="5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Выполнение различных операций: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-143130" y="666204"/>
            <a:ext cx="9900" cy="89100"/>
          </a:xfrm>
          <a:prstGeom prst="ellipse">
            <a:avLst/>
          </a:prstGeom>
          <a:solidFill>
            <a:schemeClr val="lt2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32" name="Google Shape;132;p16"/>
          <p:cNvSpPr/>
          <p:nvPr/>
        </p:nvSpPr>
        <p:spPr>
          <a:xfrm>
            <a:off x="-461575" y="-119250"/>
            <a:ext cx="1295700" cy="10362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33" name="Google Shape;133;p16"/>
          <p:cNvSpPr/>
          <p:nvPr/>
        </p:nvSpPr>
        <p:spPr>
          <a:xfrm>
            <a:off x="735000" y="313870"/>
            <a:ext cx="356100" cy="2667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34" name="Google Shape;134;p16"/>
          <p:cNvSpPr/>
          <p:nvPr/>
        </p:nvSpPr>
        <p:spPr>
          <a:xfrm>
            <a:off x="-293050" y="666204"/>
            <a:ext cx="504300" cy="414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35" name="Google Shape;135;p16"/>
          <p:cNvSpPr/>
          <p:nvPr/>
        </p:nvSpPr>
        <p:spPr>
          <a:xfrm>
            <a:off x="477873" y="-39204"/>
            <a:ext cx="546000" cy="492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36" name="Google Shape;136;p16"/>
          <p:cNvSpPr/>
          <p:nvPr/>
        </p:nvSpPr>
        <p:spPr>
          <a:xfrm>
            <a:off x="8012675" y="-216475"/>
            <a:ext cx="1295700" cy="10362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37" name="Google Shape;137;p16"/>
          <p:cNvSpPr/>
          <p:nvPr/>
        </p:nvSpPr>
        <p:spPr>
          <a:xfrm>
            <a:off x="7654598" y="-39204"/>
            <a:ext cx="546000" cy="492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38" name="Google Shape;138;p16"/>
          <p:cNvSpPr/>
          <p:nvPr/>
        </p:nvSpPr>
        <p:spPr>
          <a:xfrm>
            <a:off x="7898175" y="313870"/>
            <a:ext cx="356100" cy="2667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39" name="Google Shape;139;p16"/>
          <p:cNvSpPr/>
          <p:nvPr/>
        </p:nvSpPr>
        <p:spPr>
          <a:xfrm>
            <a:off x="8750400" y="580579"/>
            <a:ext cx="504300" cy="414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40" name="Google Shape;140;p16"/>
          <p:cNvSpPr/>
          <p:nvPr/>
        </p:nvSpPr>
        <p:spPr>
          <a:xfrm>
            <a:off x="-293050" y="4205525"/>
            <a:ext cx="1295700" cy="10362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41" name="Google Shape;141;p16"/>
          <p:cNvSpPr/>
          <p:nvPr/>
        </p:nvSpPr>
        <p:spPr>
          <a:xfrm>
            <a:off x="8068450" y="4205525"/>
            <a:ext cx="1295700" cy="10362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42" name="Google Shape;142;p16"/>
          <p:cNvSpPr/>
          <p:nvPr/>
        </p:nvSpPr>
        <p:spPr>
          <a:xfrm>
            <a:off x="683798" y="4749121"/>
            <a:ext cx="546000" cy="492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43" name="Google Shape;143;p16"/>
          <p:cNvSpPr/>
          <p:nvPr/>
        </p:nvSpPr>
        <p:spPr>
          <a:xfrm>
            <a:off x="8657373" y="3927271"/>
            <a:ext cx="546000" cy="492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44" name="Google Shape;144;p16"/>
          <p:cNvSpPr/>
          <p:nvPr/>
        </p:nvSpPr>
        <p:spPr>
          <a:xfrm>
            <a:off x="1002650" y="4643970"/>
            <a:ext cx="356100" cy="2667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45" name="Google Shape;145;p16"/>
          <p:cNvSpPr/>
          <p:nvPr/>
        </p:nvSpPr>
        <p:spPr>
          <a:xfrm>
            <a:off x="8482475" y="3927270"/>
            <a:ext cx="356100" cy="2667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46" name="Google Shape;146;p16"/>
          <p:cNvSpPr/>
          <p:nvPr/>
        </p:nvSpPr>
        <p:spPr>
          <a:xfrm>
            <a:off x="-194725" y="4005279"/>
            <a:ext cx="504300" cy="414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47" name="Google Shape;147;p16"/>
          <p:cNvSpPr/>
          <p:nvPr/>
        </p:nvSpPr>
        <p:spPr>
          <a:xfrm>
            <a:off x="7824075" y="4788129"/>
            <a:ext cx="504300" cy="414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48" name="Google Shape;148;p16"/>
          <p:cNvSpPr txBox="1"/>
          <p:nvPr/>
        </p:nvSpPr>
        <p:spPr>
          <a:xfrm>
            <a:off x="3921500" y="1189900"/>
            <a:ext cx="46092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Ввод математической операции(или мат. действия)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Ввод 1 или нескольких чисел(каждое в одной строке)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683800" y="2905413"/>
            <a:ext cx="36861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Для просмотра истории вводится слово “История”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Чтобы закончить программу на вопрос “Хотите продолжить?” нужно ответить “Нет”.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0" name="Google Shape;150;p16" title="Снимок экрана 2026-01-28 1518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5138" y="2838598"/>
            <a:ext cx="3852414" cy="1398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 title="Снимок экрана 2026-01-28 15180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025" y="1080804"/>
            <a:ext cx="3435500" cy="175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 txBox="1"/>
          <p:nvPr>
            <p:ph type="ctrTitle"/>
          </p:nvPr>
        </p:nvSpPr>
        <p:spPr>
          <a:xfrm>
            <a:off x="675475" y="74638"/>
            <a:ext cx="7610700" cy="1156500"/>
          </a:xfrm>
          <a:prstGeom prst="rect">
            <a:avLst/>
          </a:prstGeom>
        </p:spPr>
        <p:txBody>
          <a:bodyPr anchorCtr="0" anchor="b" bIns="84200" lIns="84200" spcFirstLastPara="1" rIns="84200" wrap="square" tIns="842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589"/>
              <a:t>Проблемы:</a:t>
            </a:r>
            <a:endParaRPr sz="4389"/>
          </a:p>
        </p:txBody>
      </p:sp>
      <p:sp>
        <p:nvSpPr>
          <p:cNvPr id="157" name="Google Shape;157;p17"/>
          <p:cNvSpPr txBox="1"/>
          <p:nvPr>
            <p:ph idx="1" type="subTitle"/>
          </p:nvPr>
        </p:nvSpPr>
        <p:spPr>
          <a:xfrm>
            <a:off x="70200" y="12311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Во время написания программы возникли некоторые проблемы: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-143130" y="666204"/>
            <a:ext cx="9900" cy="89100"/>
          </a:xfrm>
          <a:prstGeom prst="ellipse">
            <a:avLst/>
          </a:prstGeom>
          <a:solidFill>
            <a:schemeClr val="lt2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59" name="Google Shape;159;p17"/>
          <p:cNvSpPr/>
          <p:nvPr/>
        </p:nvSpPr>
        <p:spPr>
          <a:xfrm>
            <a:off x="-461575" y="-119250"/>
            <a:ext cx="1295700" cy="10362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60" name="Google Shape;160;p17"/>
          <p:cNvSpPr/>
          <p:nvPr/>
        </p:nvSpPr>
        <p:spPr>
          <a:xfrm>
            <a:off x="735000" y="313870"/>
            <a:ext cx="356100" cy="2667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61" name="Google Shape;161;p17"/>
          <p:cNvSpPr/>
          <p:nvPr/>
        </p:nvSpPr>
        <p:spPr>
          <a:xfrm>
            <a:off x="-293050" y="666204"/>
            <a:ext cx="504300" cy="414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62" name="Google Shape;162;p17"/>
          <p:cNvSpPr/>
          <p:nvPr/>
        </p:nvSpPr>
        <p:spPr>
          <a:xfrm>
            <a:off x="477873" y="-39204"/>
            <a:ext cx="546000" cy="492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63" name="Google Shape;163;p17"/>
          <p:cNvSpPr/>
          <p:nvPr/>
        </p:nvSpPr>
        <p:spPr>
          <a:xfrm>
            <a:off x="8012675" y="-216475"/>
            <a:ext cx="1295700" cy="10362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64" name="Google Shape;164;p17"/>
          <p:cNvSpPr/>
          <p:nvPr/>
        </p:nvSpPr>
        <p:spPr>
          <a:xfrm>
            <a:off x="7654598" y="-39204"/>
            <a:ext cx="546000" cy="492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65" name="Google Shape;165;p17"/>
          <p:cNvSpPr/>
          <p:nvPr/>
        </p:nvSpPr>
        <p:spPr>
          <a:xfrm>
            <a:off x="7898175" y="313870"/>
            <a:ext cx="356100" cy="2667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66" name="Google Shape;166;p17"/>
          <p:cNvSpPr/>
          <p:nvPr/>
        </p:nvSpPr>
        <p:spPr>
          <a:xfrm>
            <a:off x="8750400" y="580579"/>
            <a:ext cx="504300" cy="414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67" name="Google Shape;167;p17"/>
          <p:cNvSpPr/>
          <p:nvPr/>
        </p:nvSpPr>
        <p:spPr>
          <a:xfrm>
            <a:off x="-204600" y="4205525"/>
            <a:ext cx="1295700" cy="10362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68" name="Google Shape;168;p17"/>
          <p:cNvSpPr/>
          <p:nvPr/>
        </p:nvSpPr>
        <p:spPr>
          <a:xfrm>
            <a:off x="8068450" y="4205525"/>
            <a:ext cx="1295700" cy="10362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69" name="Google Shape;169;p17"/>
          <p:cNvSpPr/>
          <p:nvPr/>
        </p:nvSpPr>
        <p:spPr>
          <a:xfrm>
            <a:off x="834123" y="4749121"/>
            <a:ext cx="546000" cy="492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70" name="Google Shape;170;p17"/>
          <p:cNvSpPr/>
          <p:nvPr/>
        </p:nvSpPr>
        <p:spPr>
          <a:xfrm>
            <a:off x="8657373" y="3927271"/>
            <a:ext cx="546000" cy="492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71" name="Google Shape;171;p17"/>
          <p:cNvSpPr/>
          <p:nvPr/>
        </p:nvSpPr>
        <p:spPr>
          <a:xfrm>
            <a:off x="1091100" y="4654095"/>
            <a:ext cx="356100" cy="2667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72" name="Google Shape;172;p17"/>
          <p:cNvSpPr/>
          <p:nvPr/>
        </p:nvSpPr>
        <p:spPr>
          <a:xfrm>
            <a:off x="8482475" y="3927270"/>
            <a:ext cx="356100" cy="2667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73" name="Google Shape;173;p17"/>
          <p:cNvSpPr/>
          <p:nvPr/>
        </p:nvSpPr>
        <p:spPr>
          <a:xfrm>
            <a:off x="-133225" y="3966279"/>
            <a:ext cx="504300" cy="414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74" name="Google Shape;174;p17"/>
          <p:cNvSpPr/>
          <p:nvPr/>
        </p:nvSpPr>
        <p:spPr>
          <a:xfrm>
            <a:off x="7824075" y="4788129"/>
            <a:ext cx="504300" cy="414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75" name="Google Shape;175;p17"/>
          <p:cNvSpPr txBox="1"/>
          <p:nvPr/>
        </p:nvSpPr>
        <p:spPr>
          <a:xfrm>
            <a:off x="477875" y="2086600"/>
            <a:ext cx="5465400" cy="11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" sz="2000">
                <a:solidFill>
                  <a:schemeClr val="dk2"/>
                </a:solidFill>
              </a:rPr>
              <a:t>Определение для программы,сколько чисел нужно в</a:t>
            </a:r>
            <a:r>
              <a:rPr lang="ru" sz="2000">
                <a:solidFill>
                  <a:schemeClr val="dk2"/>
                </a:solidFill>
              </a:rPr>
              <a:t>водить </a:t>
            </a:r>
            <a:r>
              <a:rPr lang="ru" sz="2000">
                <a:solidFill>
                  <a:schemeClr val="dk2"/>
                </a:solidFill>
              </a:rPr>
              <a:t>в разных мат. операциях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2000">
                <a:solidFill>
                  <a:schemeClr val="dk2"/>
                </a:solidFill>
              </a:rPr>
              <a:t>Неправильный вывод истории операций,который было бы неудобно просмотреть</a:t>
            </a:r>
            <a:endParaRPr sz="2000">
              <a:solidFill>
                <a:schemeClr val="dk2"/>
              </a:solidFill>
            </a:endParaRPr>
          </a:p>
        </p:txBody>
      </p:sp>
      <p:pic>
        <p:nvPicPr>
          <p:cNvPr id="176" name="Google Shape;176;p17" title="загруженное (15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5700" y="1759338"/>
            <a:ext cx="2582676" cy="229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/>
          <p:nvPr>
            <p:ph type="ctrTitle"/>
          </p:nvPr>
        </p:nvSpPr>
        <p:spPr>
          <a:xfrm>
            <a:off x="675475" y="370700"/>
            <a:ext cx="7610700" cy="1156500"/>
          </a:xfrm>
          <a:prstGeom prst="rect">
            <a:avLst/>
          </a:prstGeom>
        </p:spPr>
        <p:txBody>
          <a:bodyPr anchorCtr="0" anchor="b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4010"/>
              <a:t>Как можно развить программу?</a:t>
            </a:r>
            <a:endParaRPr sz="4010"/>
          </a:p>
        </p:txBody>
      </p:sp>
      <p:sp>
        <p:nvSpPr>
          <p:cNvPr id="182" name="Google Shape;182;p18"/>
          <p:cNvSpPr txBox="1"/>
          <p:nvPr>
            <p:ph idx="1" type="subTitle"/>
          </p:nvPr>
        </p:nvSpPr>
        <p:spPr>
          <a:xfrm>
            <a:off x="906825" y="1341550"/>
            <a:ext cx="6816000" cy="7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Для развития программы в нее можно добавить:</a:t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-143130" y="666204"/>
            <a:ext cx="9900" cy="89100"/>
          </a:xfrm>
          <a:prstGeom prst="ellipse">
            <a:avLst/>
          </a:prstGeom>
          <a:solidFill>
            <a:schemeClr val="lt2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84" name="Google Shape;184;p18"/>
          <p:cNvSpPr/>
          <p:nvPr/>
        </p:nvSpPr>
        <p:spPr>
          <a:xfrm>
            <a:off x="-461575" y="-119250"/>
            <a:ext cx="1295700" cy="10362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85" name="Google Shape;185;p18"/>
          <p:cNvSpPr/>
          <p:nvPr/>
        </p:nvSpPr>
        <p:spPr>
          <a:xfrm>
            <a:off x="735000" y="313870"/>
            <a:ext cx="356100" cy="2667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86" name="Google Shape;186;p18"/>
          <p:cNvSpPr/>
          <p:nvPr/>
        </p:nvSpPr>
        <p:spPr>
          <a:xfrm>
            <a:off x="-293050" y="666204"/>
            <a:ext cx="504300" cy="414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87" name="Google Shape;187;p18"/>
          <p:cNvSpPr/>
          <p:nvPr/>
        </p:nvSpPr>
        <p:spPr>
          <a:xfrm>
            <a:off x="477873" y="-39204"/>
            <a:ext cx="546000" cy="492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88" name="Google Shape;188;p18"/>
          <p:cNvSpPr/>
          <p:nvPr/>
        </p:nvSpPr>
        <p:spPr>
          <a:xfrm>
            <a:off x="8012675" y="-216475"/>
            <a:ext cx="1295700" cy="10362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89" name="Google Shape;189;p18"/>
          <p:cNvSpPr/>
          <p:nvPr/>
        </p:nvSpPr>
        <p:spPr>
          <a:xfrm>
            <a:off x="7654598" y="-39204"/>
            <a:ext cx="546000" cy="492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90" name="Google Shape;190;p18"/>
          <p:cNvSpPr/>
          <p:nvPr/>
        </p:nvSpPr>
        <p:spPr>
          <a:xfrm>
            <a:off x="7898175" y="313870"/>
            <a:ext cx="356100" cy="2667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91" name="Google Shape;191;p18"/>
          <p:cNvSpPr/>
          <p:nvPr/>
        </p:nvSpPr>
        <p:spPr>
          <a:xfrm>
            <a:off x="8750400" y="580579"/>
            <a:ext cx="504300" cy="414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92" name="Google Shape;192;p18"/>
          <p:cNvSpPr/>
          <p:nvPr/>
        </p:nvSpPr>
        <p:spPr>
          <a:xfrm>
            <a:off x="-204600" y="4205525"/>
            <a:ext cx="1295700" cy="10362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93" name="Google Shape;193;p18"/>
          <p:cNvSpPr/>
          <p:nvPr/>
        </p:nvSpPr>
        <p:spPr>
          <a:xfrm>
            <a:off x="8068450" y="4205525"/>
            <a:ext cx="1295700" cy="10362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94" name="Google Shape;194;p18"/>
          <p:cNvSpPr/>
          <p:nvPr/>
        </p:nvSpPr>
        <p:spPr>
          <a:xfrm>
            <a:off x="834123" y="4749121"/>
            <a:ext cx="546000" cy="492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95" name="Google Shape;195;p18"/>
          <p:cNvSpPr/>
          <p:nvPr/>
        </p:nvSpPr>
        <p:spPr>
          <a:xfrm>
            <a:off x="8657373" y="3927271"/>
            <a:ext cx="546000" cy="492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96" name="Google Shape;196;p18"/>
          <p:cNvSpPr/>
          <p:nvPr/>
        </p:nvSpPr>
        <p:spPr>
          <a:xfrm>
            <a:off x="1091100" y="4654095"/>
            <a:ext cx="356100" cy="2667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97" name="Google Shape;197;p18"/>
          <p:cNvSpPr/>
          <p:nvPr/>
        </p:nvSpPr>
        <p:spPr>
          <a:xfrm>
            <a:off x="8482475" y="3927270"/>
            <a:ext cx="356100" cy="2667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98" name="Google Shape;198;p18"/>
          <p:cNvSpPr/>
          <p:nvPr/>
        </p:nvSpPr>
        <p:spPr>
          <a:xfrm>
            <a:off x="-133225" y="3966279"/>
            <a:ext cx="504300" cy="414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199" name="Google Shape;199;p18"/>
          <p:cNvSpPr/>
          <p:nvPr/>
        </p:nvSpPr>
        <p:spPr>
          <a:xfrm>
            <a:off x="7824075" y="4788129"/>
            <a:ext cx="504300" cy="414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pic>
        <p:nvPicPr>
          <p:cNvPr id="200" name="Google Shape;200;p18" title="고앵이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475" y="1842349"/>
            <a:ext cx="2279999" cy="2279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8"/>
          <p:cNvSpPr txBox="1"/>
          <p:nvPr/>
        </p:nvSpPr>
        <p:spPr>
          <a:xfrm>
            <a:off x="3405975" y="2092450"/>
            <a:ext cx="48483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" sz="2000">
                <a:solidFill>
                  <a:schemeClr val="dk2"/>
                </a:solidFill>
              </a:rPr>
              <a:t>Перевод чисел в разные системы счисления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" sz="2000">
                <a:solidFill>
                  <a:schemeClr val="dk2"/>
                </a:solidFill>
              </a:rPr>
              <a:t>Действия с разным количеством чисел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" sz="2000">
                <a:solidFill>
                  <a:schemeClr val="dk2"/>
                </a:solidFill>
              </a:rPr>
              <a:t>Выполнение разных действий за один раз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"/>
          <p:cNvSpPr txBox="1"/>
          <p:nvPr>
            <p:ph type="ctrTitle"/>
          </p:nvPr>
        </p:nvSpPr>
        <p:spPr>
          <a:xfrm>
            <a:off x="1091100" y="453388"/>
            <a:ext cx="7218000" cy="1156500"/>
          </a:xfrm>
          <a:prstGeom prst="rect">
            <a:avLst/>
          </a:prstGeom>
        </p:spPr>
        <p:txBody>
          <a:bodyPr anchorCtr="0" anchor="b" bIns="84200" lIns="84200" spcFirstLastPara="1" rIns="84200" wrap="square" tIns="842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289"/>
              <a:t>Спасибо за внимание!</a:t>
            </a:r>
            <a:endParaRPr sz="4289"/>
          </a:p>
        </p:txBody>
      </p:sp>
      <p:sp>
        <p:nvSpPr>
          <p:cNvPr id="207" name="Google Shape;207;p19"/>
          <p:cNvSpPr txBox="1"/>
          <p:nvPr>
            <p:ph idx="1" type="subTitle"/>
          </p:nvPr>
        </p:nvSpPr>
        <p:spPr>
          <a:xfrm>
            <a:off x="4898675" y="3927275"/>
            <a:ext cx="32244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QR-код на репозиторий</a:t>
            </a:r>
            <a:endParaRPr/>
          </a:p>
        </p:txBody>
      </p:sp>
      <p:sp>
        <p:nvSpPr>
          <p:cNvPr id="208" name="Google Shape;208;p19"/>
          <p:cNvSpPr/>
          <p:nvPr/>
        </p:nvSpPr>
        <p:spPr>
          <a:xfrm>
            <a:off x="-143130" y="666204"/>
            <a:ext cx="9900" cy="89100"/>
          </a:xfrm>
          <a:prstGeom prst="ellipse">
            <a:avLst/>
          </a:prstGeom>
          <a:solidFill>
            <a:schemeClr val="lt2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209" name="Google Shape;209;p19"/>
          <p:cNvSpPr/>
          <p:nvPr/>
        </p:nvSpPr>
        <p:spPr>
          <a:xfrm>
            <a:off x="-461575" y="-119250"/>
            <a:ext cx="1295700" cy="10362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210" name="Google Shape;210;p19"/>
          <p:cNvSpPr/>
          <p:nvPr/>
        </p:nvSpPr>
        <p:spPr>
          <a:xfrm>
            <a:off x="735000" y="313870"/>
            <a:ext cx="356100" cy="2667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211" name="Google Shape;211;p19"/>
          <p:cNvSpPr/>
          <p:nvPr/>
        </p:nvSpPr>
        <p:spPr>
          <a:xfrm>
            <a:off x="-293050" y="666204"/>
            <a:ext cx="504300" cy="414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212" name="Google Shape;212;p19"/>
          <p:cNvSpPr/>
          <p:nvPr/>
        </p:nvSpPr>
        <p:spPr>
          <a:xfrm>
            <a:off x="477873" y="-39204"/>
            <a:ext cx="546000" cy="492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213" name="Google Shape;213;p19"/>
          <p:cNvSpPr/>
          <p:nvPr/>
        </p:nvSpPr>
        <p:spPr>
          <a:xfrm>
            <a:off x="8012675" y="-216475"/>
            <a:ext cx="1295700" cy="10362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214" name="Google Shape;214;p19"/>
          <p:cNvSpPr/>
          <p:nvPr/>
        </p:nvSpPr>
        <p:spPr>
          <a:xfrm>
            <a:off x="7654598" y="-39204"/>
            <a:ext cx="546000" cy="492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215" name="Google Shape;215;p19"/>
          <p:cNvSpPr/>
          <p:nvPr/>
        </p:nvSpPr>
        <p:spPr>
          <a:xfrm>
            <a:off x="7898175" y="313870"/>
            <a:ext cx="356100" cy="2667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216" name="Google Shape;216;p19"/>
          <p:cNvSpPr/>
          <p:nvPr/>
        </p:nvSpPr>
        <p:spPr>
          <a:xfrm>
            <a:off x="8750400" y="580579"/>
            <a:ext cx="504300" cy="414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217" name="Google Shape;217;p19"/>
          <p:cNvSpPr/>
          <p:nvPr/>
        </p:nvSpPr>
        <p:spPr>
          <a:xfrm>
            <a:off x="-204600" y="4205525"/>
            <a:ext cx="1295700" cy="10362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218" name="Google Shape;218;p19"/>
          <p:cNvSpPr/>
          <p:nvPr/>
        </p:nvSpPr>
        <p:spPr>
          <a:xfrm>
            <a:off x="8068450" y="4205525"/>
            <a:ext cx="1295700" cy="10362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219" name="Google Shape;219;p19"/>
          <p:cNvSpPr/>
          <p:nvPr/>
        </p:nvSpPr>
        <p:spPr>
          <a:xfrm>
            <a:off x="834123" y="4749121"/>
            <a:ext cx="546000" cy="492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220" name="Google Shape;220;p19"/>
          <p:cNvSpPr/>
          <p:nvPr/>
        </p:nvSpPr>
        <p:spPr>
          <a:xfrm>
            <a:off x="8657373" y="3927271"/>
            <a:ext cx="546000" cy="492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221" name="Google Shape;221;p19"/>
          <p:cNvSpPr/>
          <p:nvPr/>
        </p:nvSpPr>
        <p:spPr>
          <a:xfrm>
            <a:off x="1091100" y="4654095"/>
            <a:ext cx="356100" cy="2667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222" name="Google Shape;222;p19"/>
          <p:cNvSpPr/>
          <p:nvPr/>
        </p:nvSpPr>
        <p:spPr>
          <a:xfrm>
            <a:off x="8482475" y="3927270"/>
            <a:ext cx="356100" cy="2667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223" name="Google Shape;223;p19"/>
          <p:cNvSpPr/>
          <p:nvPr/>
        </p:nvSpPr>
        <p:spPr>
          <a:xfrm>
            <a:off x="-133225" y="3966279"/>
            <a:ext cx="504300" cy="414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sp>
        <p:nvSpPr>
          <p:cNvPr id="224" name="Google Shape;224;p19"/>
          <p:cNvSpPr/>
          <p:nvPr/>
        </p:nvSpPr>
        <p:spPr>
          <a:xfrm>
            <a:off x="7824075" y="4788129"/>
            <a:ext cx="504300" cy="414600"/>
          </a:xfrm>
          <a:prstGeom prst="ellipse">
            <a:avLst/>
          </a:prstGeom>
          <a:solidFill>
            <a:schemeClr val="accent5"/>
          </a:solidFill>
          <a:ln cap="flat" cmpd="sng" w="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00" lIns="84200" spcFirstLastPara="1" rIns="84200" wrap="square" tIns="8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9"/>
          </a:p>
        </p:txBody>
      </p:sp>
      <p:pic>
        <p:nvPicPr>
          <p:cNvPr id="225" name="Google Shape;225;p19" title="Hello Smiley Sticker - Hello Smiley Wave - Scopri e condividi GIF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4875" y="1933225"/>
            <a:ext cx="3224392" cy="203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9" title="qrcod_a46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8075" y="1541525"/>
            <a:ext cx="2385750" cy="23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